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4C2BB03-6F2F-40CA-A42B-9CE2BC81509C}">
  <a:tblStyle styleId="{A4C2BB03-6F2F-40CA-A42B-9CE2BC81509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Title slide. Conference paper for IEEE ETAI. Food and drink detection from smart-glasses imagery, framed within Ambient Intelligence.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Motivation: diet drives chronic disease; logging is manual and unreliable; smart glasses offer automatic egocentric capture. Food detection is the sensing-and-reasoning step.</a:t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AmI loop: sense (glasses) -&gt; reason (YOLO detector) -&gt; act (log intake / feedback), then repeats.</a:t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Single-class formulation. Pre-train on Kaggle, fine-tune on egocentric + conventional photos. Twofold contribution: reproducible pipeline and comparative evaluation.</a:t>
            </a:r>
            <a:endParaRPr/>
          </a:p>
        </p:txBody>
      </p:sp>
      <p:sp>
        <p:nvSpPr>
          <p:cNvPr id="78" name="Google Shape;7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Data: 2,339 images from AFL (egocentric, Emteq glasses), foodID (conventional), and Kaggle extension. 80/10/10 split. Annotated in VIA, converted to YOLO format.</a:t>
            </a:r>
            <a:endParaRPr/>
          </a:p>
        </p:txBody>
      </p:sp>
      <p:sp>
        <p:nvSpPr>
          <p:cNvPr id="97" name="Google Shape;9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YOLO26 architecture: backbone, neck, detect head. NMS-free, DFL-free simplified head. Evaluated with IoU. We use the small (s) variant for wearable deployment.</a:t>
            </a:r>
            <a:endParaRPr/>
          </a:p>
        </p:txBody>
      </p:sp>
      <p:sp>
        <p:nvSpPr>
          <p:cNvPr id="134" name="Google Shape;13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Results: tested at 640, 768, 960. 768 gives best F1 (80.9%) and fewest false positives (41). 960 misses slightly fewer but more false positives. 768 best for general use.</a:t>
            </a:r>
            <a:endParaRPr/>
          </a:p>
        </p:txBody>
      </p:sp>
      <p:sp>
        <p:nvSpPr>
          <p:cNvPr id="167" name="Google Shape;16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Conclusion: fine-tuned YOLO detects food reliably; best at 768; still struggles with non-edible objects. Future: false-positive suppression, on-device real-time deployment.</a:t>
            </a:r>
            <a:endParaRPr/>
          </a:p>
        </p:txBody>
      </p:sp>
      <p:sp>
        <p:nvSpPr>
          <p:cNvPr id="185" name="Google Shape;18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9.png"/><Relationship Id="rId5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20.png"/><Relationship Id="rId6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4F4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326880" y="-1463040"/>
            <a:ext cx="4206240" cy="4206240"/>
          </a:xfrm>
          <a:prstGeom prst="ellipse">
            <a:avLst/>
          </a:prstGeom>
          <a:solidFill>
            <a:srgbClr val="12706D">
              <a:alpha val="6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10607040" y="4297680"/>
            <a:ext cx="3291840" cy="3291840"/>
          </a:xfrm>
          <a:prstGeom prst="ellipse">
            <a:avLst/>
          </a:prstGeom>
          <a:solidFill>
            <a:srgbClr val="81B29A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868680" y="868680"/>
            <a:ext cx="868680" cy="868680"/>
          </a:xfrm>
          <a:prstGeom prst="ellipse">
            <a:avLst/>
          </a:prstGeom>
          <a:solidFill>
            <a:srgbClr val="E07A5F"/>
          </a:solidFill>
          <a:ln>
            <a:noFill/>
          </a:ln>
          <a:effectLst>
            <a:outerShdw blurRad="101600" rotWithShape="0" algn="bl" dir="5400000" dist="38100">
              <a:srgbClr val="1B2A29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" name="Google Shape;1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8992" y="1078992"/>
            <a:ext cx="448056" cy="448056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/>
          <p:nvPr/>
        </p:nvSpPr>
        <p:spPr>
          <a:xfrm>
            <a:off x="868680" y="201168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1B29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81B29A"/>
                </a:solidFill>
                <a:latin typeface="Arial"/>
                <a:ea typeface="Arial"/>
                <a:cs typeface="Arial"/>
                <a:sym typeface="Arial"/>
              </a:rPr>
              <a:t>AMBIENT INTELLIGENCE  ·  WEARABLE SENSING 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822960" y="2423160"/>
            <a:ext cx="106070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Food and Drink Detection Using a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Fine-Tuned YOLO26 Model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868680" y="4343400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CE8"/>
              </a:buClr>
              <a:buSzPts val="1700"/>
              <a:buFont typeface="Calibri"/>
              <a:buNone/>
            </a:pPr>
            <a:r>
              <a:rPr b="0" i="1" lang="en-US" sz="1700" u="none" cap="none" strike="noStrike">
                <a:solidFill>
                  <a:srgbClr val="DCECE8"/>
                </a:solidFill>
                <a:latin typeface="Calibri"/>
                <a:ea typeface="Calibri"/>
                <a:cs typeface="Calibri"/>
                <a:sym typeface="Calibri"/>
              </a:rPr>
              <a:t>Single-class food detection 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868680" y="525780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Ilijana Simonovska</a:t>
            </a:r>
            <a:r>
              <a:rPr b="0" i="0" lang="en-US" sz="1600" u="none" cap="none" strike="noStrike">
                <a:solidFill>
                  <a:srgbClr val="81B29A"/>
                </a:solidFill>
                <a:latin typeface="Calibri"/>
                <a:ea typeface="Calibri"/>
                <a:cs typeface="Calibri"/>
                <a:sym typeface="Calibri"/>
              </a:rPr>
              <a:t>   ·   </a:t>
            </a: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Petar Trajkovski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868680" y="5623560"/>
            <a:ext cx="10424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CE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DCECE8"/>
                </a:solidFill>
                <a:latin typeface="Calibri"/>
                <a:ea typeface="Calibri"/>
                <a:cs typeface="Calibri"/>
                <a:sym typeface="Calibri"/>
              </a:rPr>
              <a:t>Faculty of Electrical Engineering and Information Technologies (FEEIT) · Ss. Cyril and Methodius University, Skopje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A5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07A5F"/>
                </a:solidFill>
                <a:latin typeface="Arial"/>
                <a:ea typeface="Arial"/>
                <a:cs typeface="Arial"/>
                <a:sym typeface="Arial"/>
              </a:rPr>
              <a:t>MOTIVATION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640080" y="786384"/>
            <a:ext cx="10881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4F4E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D4F4E"/>
                </a:solidFill>
                <a:latin typeface="Cambria"/>
                <a:ea typeface="Cambria"/>
                <a:cs typeface="Cambria"/>
                <a:sym typeface="Cambria"/>
              </a:rPr>
              <a:t>Diet is hard to track — and that limits care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640080" y="1783080"/>
            <a:ext cx="3520440" cy="2788920"/>
          </a:xfrm>
          <a:prstGeom prst="roundRect">
            <a:avLst>
              <a:gd fmla="val 3279" name="adj"/>
            </a:avLst>
          </a:prstGeom>
          <a:solidFill>
            <a:srgbClr val="F0F6F4"/>
          </a:solidFill>
          <a:ln>
            <a:noFill/>
          </a:ln>
          <a:effectLst>
            <a:outerShdw blurRad="101600" rotWithShape="0" algn="bl" dir="5400000" dist="38100">
              <a:srgbClr val="1B2A29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932688" y="2121408"/>
            <a:ext cx="731520" cy="731520"/>
          </a:xfrm>
          <a:prstGeom prst="ellipse">
            <a:avLst/>
          </a:prstGeom>
          <a:solidFill>
            <a:srgbClr val="81B29A">
              <a:alpha val="6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" name="Google Shape;3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280" y="2286000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"/>
          <p:cNvSpPr/>
          <p:nvPr/>
        </p:nvSpPr>
        <p:spPr>
          <a:xfrm>
            <a:off x="932688" y="3017520"/>
            <a:ext cx="29352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4F4E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0D4F4E"/>
                </a:solidFill>
                <a:latin typeface="Cambria"/>
                <a:ea typeface="Cambria"/>
                <a:cs typeface="Cambria"/>
                <a:sym typeface="Cambria"/>
              </a:rPr>
              <a:t>Diet drives health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932688" y="3520440"/>
            <a:ext cx="295351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B2A29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2A29"/>
                </a:solidFill>
                <a:latin typeface="Calibri"/>
                <a:ea typeface="Calibri"/>
                <a:cs typeface="Calibri"/>
                <a:sym typeface="Calibri"/>
              </a:rPr>
              <a:t>Poor dietary habits are a leading risk factor for obesity, type 2 diabetes, and cardiovascular disease.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4407408" y="1783080"/>
            <a:ext cx="3520440" cy="2788920"/>
          </a:xfrm>
          <a:prstGeom prst="roundRect">
            <a:avLst>
              <a:gd fmla="val 3279" name="adj"/>
            </a:avLst>
          </a:prstGeom>
          <a:solidFill>
            <a:srgbClr val="F0F6F4"/>
          </a:solidFill>
          <a:ln>
            <a:noFill/>
          </a:ln>
          <a:effectLst>
            <a:outerShdw blurRad="101600" rotWithShape="0" algn="bl" dir="5400000" dist="38100">
              <a:srgbClr val="1B2A29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4700016" y="2121408"/>
            <a:ext cx="731520" cy="731520"/>
          </a:xfrm>
          <a:prstGeom prst="ellipse">
            <a:avLst/>
          </a:prstGeom>
          <a:solidFill>
            <a:srgbClr val="81B29A">
              <a:alpha val="6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" name="Google Shape;3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64608" y="2286000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4"/>
          <p:cNvSpPr/>
          <p:nvPr/>
        </p:nvSpPr>
        <p:spPr>
          <a:xfrm>
            <a:off x="4700016" y="3017520"/>
            <a:ext cx="29352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4F4E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0D4F4E"/>
                </a:solidFill>
                <a:latin typeface="Cambria"/>
                <a:ea typeface="Cambria"/>
                <a:cs typeface="Cambria"/>
                <a:sym typeface="Cambria"/>
              </a:rPr>
              <a:t>Logging is manual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700016" y="3520440"/>
            <a:ext cx="295351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B2A29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2A29"/>
                </a:solidFill>
                <a:latin typeface="Calibri"/>
                <a:ea typeface="Calibri"/>
                <a:cs typeface="Calibri"/>
                <a:sym typeface="Calibri"/>
              </a:rPr>
              <a:t>Intake is still recorded by hand via diaries and photos — time-consuming, easily forgotten, error-prone.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8174736" y="1783080"/>
            <a:ext cx="3520440" cy="2788920"/>
          </a:xfrm>
          <a:prstGeom prst="roundRect">
            <a:avLst>
              <a:gd fmla="val 3279" name="adj"/>
            </a:avLst>
          </a:prstGeom>
          <a:solidFill>
            <a:srgbClr val="F0F6F4"/>
          </a:solidFill>
          <a:ln>
            <a:noFill/>
          </a:ln>
          <a:effectLst>
            <a:outerShdw blurRad="101600" rotWithShape="0" algn="bl" dir="5400000" dist="38100">
              <a:srgbClr val="1B2A29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8467344" y="2121408"/>
            <a:ext cx="731520" cy="731520"/>
          </a:xfrm>
          <a:prstGeom prst="ellipse">
            <a:avLst/>
          </a:prstGeom>
          <a:solidFill>
            <a:srgbClr val="81B29A">
              <a:alpha val="6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" name="Google Shape;44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31936" y="2286000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4"/>
          <p:cNvSpPr/>
          <p:nvPr/>
        </p:nvSpPr>
        <p:spPr>
          <a:xfrm>
            <a:off x="8467344" y="3017520"/>
            <a:ext cx="29352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4F4E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0D4F4E"/>
                </a:solidFill>
                <a:latin typeface="Cambria"/>
                <a:ea typeface="Cambria"/>
                <a:cs typeface="Cambria"/>
                <a:sym typeface="Cambria"/>
              </a:rPr>
              <a:t>Glasses can watch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8467344" y="3520440"/>
            <a:ext cx="295351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B2A29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2A29"/>
                </a:solidFill>
                <a:latin typeface="Calibri"/>
                <a:ea typeface="Calibri"/>
                <a:cs typeface="Calibri"/>
                <a:sym typeface="Calibri"/>
              </a:rPr>
              <a:t>Wearable smart glasses capture egocentric images of eating, enabling automatic, unobtrusive monitoring.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640080" y="4983480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29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1B2A29"/>
                </a:solidFill>
                <a:latin typeface="Calibri"/>
                <a:ea typeface="Calibri"/>
                <a:cs typeface="Calibri"/>
                <a:sym typeface="Calibri"/>
              </a:rPr>
              <a:t>The detection of food in this image stream is the </a:t>
            </a:r>
            <a:r>
              <a:rPr b="1" i="1" lang="en-US" sz="1600" u="none" cap="none" strike="noStrike">
                <a:solidFill>
                  <a:srgbClr val="E07A5F"/>
                </a:solidFill>
                <a:latin typeface="Calibri"/>
                <a:ea typeface="Calibri"/>
                <a:cs typeface="Calibri"/>
                <a:sym typeface="Calibri"/>
              </a:rPr>
              <a:t>sensing-and-reasoning step</a:t>
            </a:r>
            <a:r>
              <a:rPr b="0" i="1" lang="en-US" sz="1600" u="none" cap="none" strike="noStrike">
                <a:solidFill>
                  <a:srgbClr val="1B2A29"/>
                </a:solidFill>
                <a:latin typeface="Calibri"/>
                <a:ea typeface="Calibri"/>
                <a:cs typeface="Calibri"/>
                <a:sym typeface="Calibri"/>
              </a:rPr>
              <a:t> that lets an ambient system act automatically.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B7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B79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4F4E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"/>
          <p:cNvSpPr/>
          <p:nvPr/>
        </p:nvSpPr>
        <p:spPr>
          <a:xfrm>
            <a:off x="640080" y="54864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A5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07A5F"/>
                </a:solidFill>
                <a:latin typeface="Arial"/>
                <a:ea typeface="Arial"/>
                <a:cs typeface="Arial"/>
                <a:sym typeface="Arial"/>
              </a:rPr>
              <a:t>THE AMBIENT INTELLIGENCE PARADIGM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 continuous loop of sensing, reasoning, and acting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868680" y="2148840"/>
            <a:ext cx="3246120" cy="274320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B2A29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1988820" y="1645920"/>
            <a:ext cx="1005840" cy="1005840"/>
          </a:xfrm>
          <a:prstGeom prst="ellipse">
            <a:avLst/>
          </a:prstGeom>
          <a:solidFill>
            <a:srgbClr val="E07A5F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B2A29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" name="Google Shape;5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44852" y="1901952"/>
            <a:ext cx="493776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5"/>
          <p:cNvSpPr/>
          <p:nvPr/>
        </p:nvSpPr>
        <p:spPr>
          <a:xfrm>
            <a:off x="868680" y="2807208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4F4E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0D4F4E"/>
                </a:solidFill>
                <a:latin typeface="Cambria"/>
                <a:ea typeface="Cambria"/>
                <a:cs typeface="Cambria"/>
                <a:sym typeface="Cambria"/>
              </a:rPr>
              <a:t>SENSE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1188720" y="3337560"/>
            <a:ext cx="26060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2A29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2A29"/>
                </a:solidFill>
                <a:latin typeface="Calibri"/>
                <a:ea typeface="Calibri"/>
                <a:cs typeface="Calibri"/>
                <a:sym typeface="Calibri"/>
              </a:rPr>
              <a:t>Smart glasses capture egocentric images of everyday eating from the wearer's point of view.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1" name="Google Shape;6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79392" y="332841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5"/>
          <p:cNvSpPr/>
          <p:nvPr/>
        </p:nvSpPr>
        <p:spPr>
          <a:xfrm>
            <a:off x="4828032" y="2148840"/>
            <a:ext cx="3246120" cy="274320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B2A29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5948172" y="1645920"/>
            <a:ext cx="1005840" cy="1005840"/>
          </a:xfrm>
          <a:prstGeom prst="ellipse">
            <a:avLst/>
          </a:prstGeom>
          <a:solidFill>
            <a:srgbClr val="E07A5F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B2A29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" name="Google Shape;6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04204" y="1901952"/>
            <a:ext cx="493776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5"/>
          <p:cNvSpPr/>
          <p:nvPr/>
        </p:nvSpPr>
        <p:spPr>
          <a:xfrm>
            <a:off x="4828032" y="2807208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4F4E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0D4F4E"/>
                </a:solidFill>
                <a:latin typeface="Cambria"/>
                <a:ea typeface="Cambria"/>
                <a:cs typeface="Cambria"/>
                <a:sym typeface="Cambria"/>
              </a:rPr>
              <a:t>REASON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5148072" y="3337560"/>
            <a:ext cx="26060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2A29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2A29"/>
                </a:solidFill>
                <a:latin typeface="Calibri"/>
                <a:ea typeface="Calibri"/>
                <a:cs typeface="Calibri"/>
                <a:sym typeface="Calibri"/>
              </a:rPr>
              <a:t>A fine-tuned YOLO detector recognizes food in the image stream under real-world conditions.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7" name="Google Shape;6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38744" y="332841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5"/>
          <p:cNvSpPr/>
          <p:nvPr/>
        </p:nvSpPr>
        <p:spPr>
          <a:xfrm>
            <a:off x="8787384" y="2148840"/>
            <a:ext cx="3246120" cy="274320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B2A29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9907524" y="1645920"/>
            <a:ext cx="1005840" cy="1005840"/>
          </a:xfrm>
          <a:prstGeom prst="ellipse">
            <a:avLst/>
          </a:prstGeom>
          <a:solidFill>
            <a:srgbClr val="E07A5F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B2A29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" name="Google Shape;70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163556" y="1901952"/>
            <a:ext cx="493776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5"/>
          <p:cNvSpPr/>
          <p:nvPr/>
        </p:nvSpPr>
        <p:spPr>
          <a:xfrm>
            <a:off x="8787384" y="2807208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4F4E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0D4F4E"/>
                </a:solidFill>
                <a:latin typeface="Cambria"/>
                <a:ea typeface="Cambria"/>
                <a:cs typeface="Cambria"/>
                <a:sym typeface="Cambria"/>
              </a:rPr>
              <a:t>ACT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9107424" y="3337560"/>
            <a:ext cx="26060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2A29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2A29"/>
                </a:solidFill>
                <a:latin typeface="Calibri"/>
                <a:ea typeface="Calibri"/>
                <a:cs typeface="Calibri"/>
                <a:sym typeface="Calibri"/>
              </a:rPr>
              <a:t>The system logs the eating event and can deliver timely, context-aware dietary feedback.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868680" y="5303520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ECE8"/>
              </a:buClr>
              <a:buSzPts val="1450"/>
              <a:buFont typeface="Calibri"/>
              <a:buNone/>
            </a:pPr>
            <a:r>
              <a:rPr b="0" i="1" lang="en-US" sz="1450" u="none" cap="none" strike="noStrike">
                <a:solidFill>
                  <a:srgbClr val="DCECE8"/>
                </a:solidFill>
                <a:latin typeface="Calibri"/>
                <a:ea typeface="Calibri"/>
                <a:cs typeface="Calibri"/>
                <a:sym typeface="Calibri"/>
              </a:rPr>
              <a:t>…and the cycle repeats — continuous, unobtrusive support with little effort from the user.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B7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B79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A5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07A5F"/>
                </a:solidFill>
                <a:latin typeface="Arial"/>
                <a:ea typeface="Arial"/>
                <a:cs typeface="Arial"/>
                <a:sym typeface="Arial"/>
              </a:rPr>
              <a:t>OUR APPROACH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640080" y="786384"/>
            <a:ext cx="10881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4F4E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D4F4E"/>
                </a:solidFill>
                <a:latin typeface="Cambria"/>
                <a:ea typeface="Cambria"/>
                <a:cs typeface="Cambria"/>
                <a:sym typeface="Cambria"/>
              </a:rPr>
              <a:t>Food as a single class, detected in real time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640080" y="1783080"/>
            <a:ext cx="5074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A29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B2A29"/>
                </a:solidFill>
                <a:latin typeface="Calibri"/>
                <a:ea typeface="Calibri"/>
                <a:cs typeface="Calibri"/>
                <a:sym typeface="Calibri"/>
              </a:rPr>
              <a:t>We treat food and drink detection as a </a:t>
            </a:r>
            <a:r>
              <a:rPr b="1" i="0" lang="en-US" sz="1600" u="none" cap="none" strike="noStrike">
                <a:solidFill>
                  <a:srgbClr val="0D4F4E"/>
                </a:solidFill>
                <a:latin typeface="Calibri"/>
                <a:ea typeface="Calibri"/>
                <a:cs typeface="Calibri"/>
                <a:sym typeface="Calibri"/>
              </a:rPr>
              <a:t>single-class problem</a:t>
            </a:r>
            <a:r>
              <a:rPr b="0" i="0" lang="en-US" sz="1600" u="none" cap="none" strike="noStrike">
                <a:solidFill>
                  <a:srgbClr val="1B2A29"/>
                </a:solidFill>
                <a:latin typeface="Calibri"/>
                <a:ea typeface="Calibri"/>
                <a:cs typeface="Calibri"/>
                <a:sym typeface="Calibri"/>
              </a:rPr>
              <a:t>: every food or drink item is labelled </a:t>
            </a:r>
            <a:r>
              <a:rPr b="1" i="1" lang="en-US" sz="1600" u="none" cap="none" strike="noStrike">
                <a:solidFill>
                  <a:srgbClr val="E07A5F"/>
                </a:solidFill>
                <a:latin typeface="Calibri"/>
                <a:ea typeface="Calibri"/>
                <a:cs typeface="Calibri"/>
                <a:sym typeface="Calibri"/>
              </a:rPr>
              <a:t>food</a:t>
            </a:r>
            <a:r>
              <a:rPr b="0" i="0" lang="en-US" sz="1600" u="none" cap="none" strike="noStrike">
                <a:solidFill>
                  <a:srgbClr val="1B2A29"/>
                </a:solidFill>
                <a:latin typeface="Calibri"/>
                <a:ea typeface="Calibri"/>
                <a:cs typeface="Calibri"/>
                <a:sym typeface="Calibri"/>
              </a:rPr>
              <a:t>, and everything else is background.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640080" y="2880360"/>
            <a:ext cx="50749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A29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B2A29"/>
                </a:solidFill>
                <a:latin typeface="Calibri"/>
                <a:ea typeface="Calibri"/>
                <a:cs typeface="Calibri"/>
                <a:sym typeface="Calibri"/>
              </a:rPr>
              <a:t>Start from a YOLO26s model pre-trained on public Kaggle food / no-food images.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B2A29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B2A29"/>
                </a:solidFill>
                <a:latin typeface="Calibri"/>
                <a:ea typeface="Calibri"/>
                <a:cs typeface="Calibri"/>
                <a:sym typeface="Calibri"/>
              </a:rPr>
              <a:t>Fine-tune on egocentric + conventional photographs for wider viewpoint coverage.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B2A29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B2A29"/>
                </a:solidFill>
                <a:latin typeface="Calibri"/>
                <a:ea typeface="Calibri"/>
                <a:cs typeface="Calibri"/>
                <a:sym typeface="Calibri"/>
              </a:rPr>
              <a:t>Single-stage YOLO runs fast enough for resource-constrained wearable hardware.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6080760" y="1783080"/>
            <a:ext cx="5440680" cy="1481328"/>
          </a:xfrm>
          <a:prstGeom prst="roundRect">
            <a:avLst>
              <a:gd fmla="val 5556" name="adj"/>
            </a:avLst>
          </a:prstGeom>
          <a:solidFill>
            <a:srgbClr val="F0F6F4"/>
          </a:solidFill>
          <a:ln>
            <a:noFill/>
          </a:ln>
          <a:effectLst>
            <a:outerShdw blurRad="101600" rotWithShape="0" algn="bl" dir="5400000" dist="38100">
              <a:srgbClr val="1B2A29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6309360" y="1984248"/>
            <a:ext cx="914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1B29A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81B29A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7315200" y="1984248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4F4E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0D4F4E"/>
                </a:solidFill>
                <a:latin typeface="Cambria"/>
                <a:ea typeface="Cambria"/>
                <a:cs typeface="Cambria"/>
                <a:sym typeface="Cambria"/>
              </a:rPr>
              <a:t>A reproducible pipeline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7315200" y="2386584"/>
            <a:ext cx="4069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1B2A2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A29"/>
                </a:solidFill>
                <a:latin typeface="Calibri"/>
                <a:ea typeface="Calibri"/>
                <a:cs typeface="Calibri"/>
                <a:sym typeface="Calibri"/>
              </a:rPr>
              <a:t>Annotation → YOLO-format conversion → </a:t>
            </a:r>
            <a:r>
              <a:rPr lang="en-US" sz="1250">
                <a:solidFill>
                  <a:srgbClr val="1B2A29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0" i="0" lang="en-US" sz="1250" u="none" cap="none" strike="noStrike">
                <a:solidFill>
                  <a:srgbClr val="1B2A29"/>
                </a:solidFill>
                <a:latin typeface="Calibri"/>
                <a:ea typeface="Calibri"/>
                <a:cs typeface="Calibri"/>
                <a:sym typeface="Calibri"/>
              </a:rPr>
              <a:t>ulti-</a:t>
            </a:r>
            <a:r>
              <a:rPr lang="en-US" sz="1250">
                <a:solidFill>
                  <a:srgbClr val="1B2A29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US" sz="1250" u="none" cap="none" strike="noStrike">
                <a:solidFill>
                  <a:srgbClr val="1B2A29"/>
                </a:solidFill>
                <a:latin typeface="Calibri"/>
                <a:ea typeface="Calibri"/>
                <a:cs typeface="Calibri"/>
                <a:sym typeface="Calibri"/>
              </a:rPr>
              <a:t>ource </a:t>
            </a:r>
            <a:r>
              <a:rPr lang="en-US" sz="1250">
                <a:solidFill>
                  <a:srgbClr val="1B2A29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0" i="0" lang="en-US" sz="1250" u="none" cap="none" strike="noStrike">
                <a:solidFill>
                  <a:srgbClr val="1B2A29"/>
                </a:solidFill>
                <a:latin typeface="Calibri"/>
                <a:ea typeface="Calibri"/>
                <a:cs typeface="Calibri"/>
                <a:sym typeface="Calibri"/>
              </a:rPr>
              <a:t>erging → </a:t>
            </a:r>
            <a:r>
              <a:rPr lang="en-US" sz="1250">
                <a:solidFill>
                  <a:srgbClr val="1B2A29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b="0" i="0" lang="en-US" sz="1250" u="none" cap="none" strike="noStrike">
                <a:solidFill>
                  <a:srgbClr val="1B2A29"/>
                </a:solidFill>
                <a:latin typeface="Calibri"/>
                <a:ea typeface="Calibri"/>
                <a:cs typeface="Calibri"/>
                <a:sym typeface="Calibri"/>
              </a:rPr>
              <a:t>ine-</a:t>
            </a:r>
            <a:r>
              <a:rPr lang="en-US" sz="1250">
                <a:solidFill>
                  <a:srgbClr val="1B2A29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i="0" lang="en-US" sz="1250" u="none" cap="none" strike="noStrike">
                <a:solidFill>
                  <a:srgbClr val="1B2A29"/>
                </a:solidFill>
                <a:latin typeface="Calibri"/>
                <a:ea typeface="Calibri"/>
                <a:cs typeface="Calibri"/>
                <a:sym typeface="Calibri"/>
              </a:rPr>
              <a:t>uning → </a:t>
            </a:r>
            <a:r>
              <a:rPr lang="en-US" sz="1250">
                <a:solidFill>
                  <a:srgbClr val="1B2A29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-US" sz="1250" u="none" cap="none" strike="noStrike">
                <a:solidFill>
                  <a:srgbClr val="1B2A29"/>
                </a:solidFill>
                <a:latin typeface="Calibri"/>
                <a:ea typeface="Calibri"/>
                <a:cs typeface="Calibri"/>
                <a:sym typeface="Calibri"/>
              </a:rPr>
              <a:t>valuation, as an AmI sensing component.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6080760" y="3410712"/>
            <a:ext cx="5440680" cy="1481328"/>
          </a:xfrm>
          <a:prstGeom prst="roundRect">
            <a:avLst>
              <a:gd fmla="val 5556" name="adj"/>
            </a:avLst>
          </a:prstGeom>
          <a:solidFill>
            <a:srgbClr val="F0F6F4"/>
          </a:solidFill>
          <a:ln>
            <a:noFill/>
          </a:ln>
          <a:effectLst>
            <a:outerShdw blurRad="101600" rotWithShape="0" algn="bl" dir="5400000" dist="38100">
              <a:srgbClr val="1B2A29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6309360" y="3611880"/>
            <a:ext cx="914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1B29A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81B29A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7315200" y="361188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4F4E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0D4F4E"/>
                </a:solidFill>
                <a:latin typeface="Cambria"/>
                <a:ea typeface="Cambria"/>
                <a:cs typeface="Cambria"/>
                <a:sym typeface="Cambria"/>
              </a:rPr>
              <a:t>A comparative evaluation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7315200" y="4014216"/>
            <a:ext cx="4069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1B2A2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A29"/>
                </a:solidFill>
                <a:latin typeface="Calibri"/>
                <a:ea typeface="Calibri"/>
                <a:cs typeface="Calibri"/>
                <a:sym typeface="Calibri"/>
              </a:rPr>
              <a:t>Detection performance of fine-tuned YOLO26 reported and compared against alternative detection and segmentation architectures.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6080760" y="5120640"/>
            <a:ext cx="5440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B79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B7B79"/>
                </a:solidFill>
                <a:latin typeface="Calibri"/>
                <a:ea typeface="Calibri"/>
                <a:cs typeface="Calibri"/>
                <a:sym typeface="Calibri"/>
              </a:rPr>
              <a:t>The contribution is twofold.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B7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B79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A5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07A5F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640080" y="786384"/>
            <a:ext cx="10881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4F4E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D4F4E"/>
                </a:solidFill>
                <a:latin typeface="Cambria"/>
                <a:ea typeface="Cambria"/>
                <a:cs typeface="Cambria"/>
                <a:sym typeface="Cambria"/>
              </a:rPr>
              <a:t>2,339 images merged from three sources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640080" y="1783080"/>
            <a:ext cx="2670048" cy="1371600"/>
          </a:xfrm>
          <a:prstGeom prst="roundRect">
            <a:avLst>
              <a:gd fmla="val 6000" name="adj"/>
            </a:avLst>
          </a:prstGeom>
          <a:solidFill>
            <a:srgbClr val="0D4F4E"/>
          </a:solidFill>
          <a:ln>
            <a:noFill/>
          </a:ln>
          <a:effectLst>
            <a:outerShdw blurRad="101600" rotWithShape="0" algn="bl" dir="5400000" dist="38100">
              <a:srgbClr val="1B2A29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"/>
          <p:cNvSpPr/>
          <p:nvPr/>
        </p:nvSpPr>
        <p:spPr>
          <a:xfrm>
            <a:off x="640080" y="1938528"/>
            <a:ext cx="267004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2,339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640080" y="2670048"/>
            <a:ext cx="267004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ECE8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DCECE8"/>
                </a:solidFill>
                <a:latin typeface="Arial"/>
                <a:ea typeface="Arial"/>
                <a:cs typeface="Arial"/>
                <a:sym typeface="Arial"/>
              </a:rPr>
              <a:t>TOTAL IMAGES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3429000" y="1783080"/>
            <a:ext cx="2670048" cy="1371600"/>
          </a:xfrm>
          <a:prstGeom prst="roundRect">
            <a:avLst>
              <a:gd fmla="val 6000" name="adj"/>
            </a:avLst>
          </a:prstGeom>
          <a:solidFill>
            <a:srgbClr val="F0F6F4"/>
          </a:solidFill>
          <a:ln>
            <a:noFill/>
          </a:ln>
          <a:effectLst>
            <a:outerShdw blurRad="101600" rotWithShape="0" algn="bl" dir="5400000" dist="38100">
              <a:srgbClr val="1B2A29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3429000" y="1938528"/>
            <a:ext cx="267004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4F4E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0D4F4E"/>
                </a:solidFill>
                <a:latin typeface="Cambria"/>
                <a:ea typeface="Cambria"/>
                <a:cs typeface="Cambria"/>
                <a:sym typeface="Cambria"/>
              </a:rPr>
              <a:t>1,870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3429000" y="2670048"/>
            <a:ext cx="267004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B79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6B7B79"/>
                </a:solidFill>
                <a:latin typeface="Arial"/>
                <a:ea typeface="Arial"/>
                <a:cs typeface="Arial"/>
                <a:sym typeface="Arial"/>
              </a:rPr>
              <a:t>TRAINING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6217920" y="1783080"/>
            <a:ext cx="2670048" cy="1371600"/>
          </a:xfrm>
          <a:prstGeom prst="roundRect">
            <a:avLst>
              <a:gd fmla="val 6000" name="adj"/>
            </a:avLst>
          </a:prstGeom>
          <a:solidFill>
            <a:srgbClr val="F0F6F4"/>
          </a:solidFill>
          <a:ln>
            <a:noFill/>
          </a:ln>
          <a:effectLst>
            <a:outerShdw blurRad="101600" rotWithShape="0" algn="bl" dir="5400000" dist="38100">
              <a:srgbClr val="1B2A29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6217920" y="1938528"/>
            <a:ext cx="267004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4F4E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0D4F4E"/>
                </a:solidFill>
                <a:latin typeface="Cambria"/>
                <a:ea typeface="Cambria"/>
                <a:cs typeface="Cambria"/>
                <a:sym typeface="Cambria"/>
              </a:rPr>
              <a:t>233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6217920" y="2670048"/>
            <a:ext cx="267004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B79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6B7B79"/>
                </a:solidFill>
                <a:latin typeface="Arial"/>
                <a:ea typeface="Arial"/>
                <a:cs typeface="Arial"/>
                <a:sym typeface="Arial"/>
              </a:rPr>
              <a:t>VALIDATION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9006840" y="1783080"/>
            <a:ext cx="2670048" cy="1371600"/>
          </a:xfrm>
          <a:prstGeom prst="roundRect">
            <a:avLst>
              <a:gd fmla="val 6000" name="adj"/>
            </a:avLst>
          </a:prstGeom>
          <a:solidFill>
            <a:srgbClr val="F0F6F4"/>
          </a:solidFill>
          <a:ln>
            <a:noFill/>
          </a:ln>
          <a:effectLst>
            <a:outerShdw blurRad="101600" rotWithShape="0" algn="bl" dir="5400000" dist="38100">
              <a:srgbClr val="1B2A29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9006840" y="1938528"/>
            <a:ext cx="267004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4F4E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0D4F4E"/>
                </a:solidFill>
                <a:latin typeface="Cambria"/>
                <a:ea typeface="Cambria"/>
                <a:cs typeface="Cambria"/>
                <a:sym typeface="Cambria"/>
              </a:rPr>
              <a:t>236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9006840" y="2670048"/>
            <a:ext cx="267004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B79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6B7B79"/>
                </a:solidFill>
                <a:latin typeface="Arial"/>
                <a:ea typeface="Arial"/>
                <a:cs typeface="Arial"/>
                <a:sym typeface="Arial"/>
              </a:rPr>
              <a:t>TEST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640080" y="32004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B79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7B79"/>
                </a:solidFill>
                <a:latin typeface="Calibri"/>
                <a:ea typeface="Calibri"/>
                <a:cs typeface="Calibri"/>
                <a:sym typeface="Calibri"/>
              </a:rPr>
              <a:t>≈ 80 / 10 / 10 split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640080" y="3657600"/>
            <a:ext cx="3520440" cy="1783080"/>
          </a:xfrm>
          <a:prstGeom prst="roundRect">
            <a:avLst>
              <a:gd fmla="val 4615" name="adj"/>
            </a:avLst>
          </a:prstGeom>
          <a:solidFill>
            <a:srgbClr val="FFFFFF"/>
          </a:solidFill>
          <a:ln cap="flat" cmpd="sng" w="12700">
            <a:solidFill>
              <a:srgbClr val="E2EC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B2A29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914400" y="3913632"/>
            <a:ext cx="658368" cy="658368"/>
          </a:xfrm>
          <a:prstGeom prst="ellipse">
            <a:avLst/>
          </a:prstGeom>
          <a:solidFill>
            <a:srgbClr val="F0F6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6" name="Google Shape;11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848" y="406908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7"/>
          <p:cNvSpPr/>
          <p:nvPr/>
        </p:nvSpPr>
        <p:spPr>
          <a:xfrm>
            <a:off x="1737360" y="3968496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4F4E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D4F4E"/>
                </a:solidFill>
                <a:latin typeface="Cambria"/>
                <a:ea typeface="Cambria"/>
                <a:cs typeface="Cambria"/>
                <a:sym typeface="Cambria"/>
              </a:rPr>
              <a:t>AFL  </a:t>
            </a:r>
            <a:r>
              <a:rPr b="1" i="0" lang="en-US" sz="1150" u="none" cap="none" strike="noStrike">
                <a:solidFill>
                  <a:srgbClr val="E07A5F"/>
                </a:solidFill>
                <a:latin typeface="Cambria"/>
                <a:ea typeface="Cambria"/>
                <a:cs typeface="Cambria"/>
                <a:sym typeface="Cambria"/>
              </a:rPr>
              <a:t>Egocentric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932688" y="4681728"/>
            <a:ext cx="2971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1B2A2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A29"/>
                </a:solidFill>
                <a:latin typeface="Calibri"/>
                <a:ea typeface="Calibri"/>
                <a:cs typeface="Calibri"/>
                <a:sym typeface="Calibri"/>
              </a:rPr>
              <a:t>Real images from Emteq smart glasses — natural lighting, varied angles, partial occlusion.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4407408" y="3657600"/>
            <a:ext cx="3520440" cy="1783080"/>
          </a:xfrm>
          <a:prstGeom prst="roundRect">
            <a:avLst>
              <a:gd fmla="val 4615" name="adj"/>
            </a:avLst>
          </a:prstGeom>
          <a:solidFill>
            <a:srgbClr val="FFFFFF"/>
          </a:solidFill>
          <a:ln cap="flat" cmpd="sng" w="12700">
            <a:solidFill>
              <a:srgbClr val="E2EC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B2A29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4681728" y="3913632"/>
            <a:ext cx="658368" cy="658368"/>
          </a:xfrm>
          <a:prstGeom prst="ellipse">
            <a:avLst/>
          </a:prstGeom>
          <a:solidFill>
            <a:srgbClr val="F0F6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1" name="Google Shape;12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37176" y="406908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7"/>
          <p:cNvSpPr/>
          <p:nvPr/>
        </p:nvSpPr>
        <p:spPr>
          <a:xfrm>
            <a:off x="5504688" y="3968496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4F4E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0D4F4E"/>
                </a:solidFill>
                <a:latin typeface="Cambria"/>
                <a:ea typeface="Cambria"/>
                <a:cs typeface="Cambria"/>
                <a:sym typeface="Cambria"/>
              </a:rPr>
              <a:t>F</a:t>
            </a:r>
            <a:r>
              <a:rPr b="1" i="0" lang="en-US" sz="1800" u="none" cap="none" strike="noStrike">
                <a:solidFill>
                  <a:srgbClr val="0D4F4E"/>
                </a:solidFill>
                <a:latin typeface="Cambria"/>
                <a:ea typeface="Cambria"/>
                <a:cs typeface="Cambria"/>
                <a:sym typeface="Cambria"/>
              </a:rPr>
              <a:t>oodID  </a:t>
            </a:r>
            <a:r>
              <a:rPr b="1" i="0" lang="en-US" sz="1150" u="none" cap="none" strike="noStrike">
                <a:solidFill>
                  <a:srgbClr val="E07A5F"/>
                </a:solidFill>
                <a:latin typeface="Cambria"/>
                <a:ea typeface="Cambria"/>
                <a:cs typeface="Cambria"/>
                <a:sym typeface="Cambria"/>
              </a:rPr>
              <a:t>Conventional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4700016" y="4681728"/>
            <a:ext cx="2971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1B2A2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A29"/>
                </a:solidFill>
                <a:latin typeface="Calibri"/>
                <a:ea typeface="Calibri"/>
                <a:cs typeface="Calibri"/>
                <a:sym typeface="Calibri"/>
              </a:rPr>
              <a:t>Food &amp; drink photographs taken with a standard mobile camera.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8174736" y="3657600"/>
            <a:ext cx="3520440" cy="1783080"/>
          </a:xfrm>
          <a:prstGeom prst="roundRect">
            <a:avLst>
              <a:gd fmla="val 4615" name="adj"/>
            </a:avLst>
          </a:prstGeom>
          <a:solidFill>
            <a:srgbClr val="FFFFFF"/>
          </a:solidFill>
          <a:ln cap="flat" cmpd="sng" w="12700">
            <a:solidFill>
              <a:srgbClr val="E2EC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B2A29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8449056" y="3913632"/>
            <a:ext cx="658368" cy="658368"/>
          </a:xfrm>
          <a:prstGeom prst="ellipse">
            <a:avLst/>
          </a:prstGeom>
          <a:solidFill>
            <a:srgbClr val="F0F6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6" name="Google Shape;126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04504" y="406908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7"/>
          <p:cNvSpPr/>
          <p:nvPr/>
        </p:nvSpPr>
        <p:spPr>
          <a:xfrm>
            <a:off x="9272016" y="3968496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4F4E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D4F4E"/>
                </a:solidFill>
                <a:latin typeface="Cambria"/>
                <a:ea typeface="Cambria"/>
                <a:cs typeface="Cambria"/>
                <a:sym typeface="Cambria"/>
              </a:rPr>
              <a:t>Kaggle  </a:t>
            </a:r>
            <a:r>
              <a:rPr b="1" i="0" lang="en-US" sz="1150" u="none" cap="none" strike="noStrike">
                <a:solidFill>
                  <a:srgbClr val="E07A5F"/>
                </a:solidFill>
                <a:latin typeface="Cambria"/>
                <a:ea typeface="Cambria"/>
                <a:cs typeface="Cambria"/>
                <a:sym typeface="Cambria"/>
              </a:rPr>
              <a:t>Extension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8467344" y="4681728"/>
            <a:ext cx="2971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1B2A2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A29"/>
                </a:solidFill>
                <a:latin typeface="Calibri"/>
                <a:ea typeface="Calibri"/>
                <a:cs typeface="Calibri"/>
                <a:sym typeface="Calibri"/>
              </a:rPr>
              <a:t>No-food negatives plus high-resolution food images for diversity.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640080" y="562356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B79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6B7B79"/>
                </a:solidFill>
                <a:latin typeface="Calibri"/>
                <a:ea typeface="Calibri"/>
                <a:cs typeface="Calibri"/>
                <a:sym typeface="Calibri"/>
              </a:rPr>
              <a:t>All regions annotated in VGG Image Annotator (VIA), exported to CSV, and converted to YOLO label format.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B7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B79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A5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07A5F"/>
                </a:solidFill>
                <a:latin typeface="Arial"/>
                <a:ea typeface="Arial"/>
                <a:cs typeface="Arial"/>
                <a:sym typeface="Arial"/>
              </a:rPr>
              <a:t>METHOD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640080" y="786384"/>
            <a:ext cx="10881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4F4E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D4F4E"/>
                </a:solidFill>
                <a:latin typeface="Cambria"/>
                <a:ea typeface="Cambria"/>
                <a:cs typeface="Cambria"/>
                <a:sym typeface="Cambria"/>
              </a:rPr>
              <a:t>One pass through YOLOv26 — three stages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640080" y="1783080"/>
            <a:ext cx="3520440" cy="2148840"/>
          </a:xfrm>
          <a:prstGeom prst="roundRect">
            <a:avLst>
              <a:gd fmla="val 3830" name="adj"/>
            </a:avLst>
          </a:prstGeom>
          <a:solidFill>
            <a:srgbClr val="F0F6F4"/>
          </a:solidFill>
          <a:ln>
            <a:noFill/>
          </a:ln>
          <a:effectLst>
            <a:outerShdw blurRad="101600" rotWithShape="0" algn="bl" dir="5400000" dist="38100">
              <a:srgbClr val="1B2A29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"/>
          <p:cNvSpPr/>
          <p:nvPr/>
        </p:nvSpPr>
        <p:spPr>
          <a:xfrm>
            <a:off x="914400" y="2057400"/>
            <a:ext cx="713232" cy="713232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81B2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0" name="Google Shape;14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8136" y="223113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8"/>
          <p:cNvSpPr/>
          <p:nvPr/>
        </p:nvSpPr>
        <p:spPr>
          <a:xfrm>
            <a:off x="1737360" y="2167128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4F4E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D4F4E"/>
                </a:solidFill>
                <a:latin typeface="Cambria"/>
                <a:ea typeface="Cambria"/>
                <a:cs typeface="Cambria"/>
                <a:sym typeface="Cambria"/>
              </a:rPr>
              <a:t>Backbone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932688" y="2880360"/>
            <a:ext cx="2971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B2A2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A29"/>
                </a:solidFill>
                <a:latin typeface="Calibri"/>
                <a:ea typeface="Calibri"/>
                <a:cs typeface="Calibri"/>
                <a:sym typeface="Calibri"/>
              </a:rPr>
              <a:t>Convolutional layers + C3k2, SPPF and attention (C2PSA) extract visual features at increasing depth.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3" name="Google Shape;14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28516" y="270205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8"/>
          <p:cNvSpPr/>
          <p:nvPr/>
        </p:nvSpPr>
        <p:spPr>
          <a:xfrm>
            <a:off x="4407408" y="1783080"/>
            <a:ext cx="3520440" cy="2148840"/>
          </a:xfrm>
          <a:prstGeom prst="roundRect">
            <a:avLst>
              <a:gd fmla="val 3830" name="adj"/>
            </a:avLst>
          </a:prstGeom>
          <a:solidFill>
            <a:srgbClr val="F0F6F4"/>
          </a:solidFill>
          <a:ln>
            <a:noFill/>
          </a:ln>
          <a:effectLst>
            <a:outerShdw blurRad="101600" rotWithShape="0" algn="bl" dir="5400000" dist="38100">
              <a:srgbClr val="1B2A29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4681728" y="2057400"/>
            <a:ext cx="713232" cy="713232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81B2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6" name="Google Shape;14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5464" y="223113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8"/>
          <p:cNvSpPr/>
          <p:nvPr/>
        </p:nvSpPr>
        <p:spPr>
          <a:xfrm>
            <a:off x="5504688" y="2167128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4F4E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D4F4E"/>
                </a:solidFill>
                <a:latin typeface="Cambria"/>
                <a:ea typeface="Cambria"/>
                <a:cs typeface="Cambria"/>
                <a:sym typeface="Cambria"/>
              </a:rPr>
              <a:t>Neck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4700016" y="2880360"/>
            <a:ext cx="2971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B2A2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A29"/>
                </a:solidFill>
                <a:latin typeface="Calibri"/>
                <a:ea typeface="Calibri"/>
                <a:cs typeface="Calibri"/>
                <a:sym typeface="Calibri"/>
              </a:rPr>
              <a:t>Upsampling + Concat fuse deep semantic features with earlier geometric detail across three scales.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9" name="Google Shape;14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95844" y="270205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8"/>
          <p:cNvSpPr/>
          <p:nvPr/>
        </p:nvSpPr>
        <p:spPr>
          <a:xfrm>
            <a:off x="8174736" y="1783080"/>
            <a:ext cx="3520440" cy="2148840"/>
          </a:xfrm>
          <a:prstGeom prst="roundRect">
            <a:avLst>
              <a:gd fmla="val 3830" name="adj"/>
            </a:avLst>
          </a:prstGeom>
          <a:solidFill>
            <a:srgbClr val="F0F6F4"/>
          </a:solidFill>
          <a:ln>
            <a:noFill/>
          </a:ln>
          <a:effectLst>
            <a:outerShdw blurRad="101600" rotWithShape="0" algn="bl" dir="5400000" dist="38100">
              <a:srgbClr val="1B2A29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8449056" y="2057400"/>
            <a:ext cx="713232" cy="713232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81B2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2" name="Google Shape;152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22792" y="223113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8"/>
          <p:cNvSpPr/>
          <p:nvPr/>
        </p:nvSpPr>
        <p:spPr>
          <a:xfrm>
            <a:off x="9272016" y="2167128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4F4E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D4F4E"/>
                </a:solidFill>
                <a:latin typeface="Cambria"/>
                <a:ea typeface="Cambria"/>
                <a:cs typeface="Cambria"/>
                <a:sym typeface="Cambria"/>
              </a:rPr>
              <a:t>Detect head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8467344" y="2880360"/>
            <a:ext cx="2971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B2A2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A29"/>
                </a:solidFill>
                <a:latin typeface="Calibri"/>
                <a:ea typeface="Calibri"/>
                <a:cs typeface="Calibri"/>
                <a:sym typeface="Calibri"/>
              </a:rPr>
              <a:t>Predicts bounding boxes &amp; class probability. NMS-free, simplified direct regression for faster inference.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640080" y="4206240"/>
            <a:ext cx="5349240" cy="1783080"/>
          </a:xfrm>
          <a:prstGeom prst="roundRect">
            <a:avLst>
              <a:gd fmla="val 4615" name="adj"/>
            </a:avLst>
          </a:prstGeom>
          <a:solidFill>
            <a:srgbClr val="0D4F4E"/>
          </a:solidFill>
          <a:ln>
            <a:noFill/>
          </a:ln>
          <a:effectLst>
            <a:outerShdw blurRad="101600" rotWithShape="0" algn="bl" dir="5400000" dist="38100">
              <a:srgbClr val="1B2A29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914400" y="440740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A5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07A5F"/>
                </a:solidFill>
                <a:latin typeface="Arial"/>
                <a:ea typeface="Arial"/>
                <a:cs typeface="Arial"/>
                <a:sym typeface="Arial"/>
              </a:rPr>
              <a:t>EVALUATION METRIC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914400" y="4681728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Intersection over Union (IoU)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914400" y="5120640"/>
            <a:ext cx="4800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DCECE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DCECE8"/>
                </a:solidFill>
                <a:latin typeface="Calibri"/>
                <a:ea typeface="Calibri"/>
                <a:cs typeface="Calibri"/>
                <a:sym typeface="Calibri"/>
              </a:rPr>
              <a:t>Ratio of the intersection to the union of the predicted and ground-truth boxes (0–1). Higher IoU = more accurate localization.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6172200" y="4206240"/>
            <a:ext cx="5349240" cy="1783080"/>
          </a:xfrm>
          <a:prstGeom prst="roundRect">
            <a:avLst>
              <a:gd fmla="val 4615" name="adj"/>
            </a:avLst>
          </a:prstGeom>
          <a:solidFill>
            <a:srgbClr val="FFFFFF"/>
          </a:solidFill>
          <a:ln cap="flat" cmpd="sng" w="12700">
            <a:solidFill>
              <a:srgbClr val="E2EC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B2A29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6446520" y="440740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A5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07A5F"/>
                </a:solidFill>
                <a:latin typeface="Arial"/>
                <a:ea typeface="Arial"/>
                <a:cs typeface="Arial"/>
                <a:sym typeface="Arial"/>
              </a:rPr>
              <a:t>MODEL VARIANTS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6446520" y="4681728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4F4E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0D4F4E"/>
                </a:solidFill>
                <a:latin typeface="Cambria"/>
                <a:ea typeface="Cambria"/>
                <a:cs typeface="Cambria"/>
                <a:sym typeface="Cambria"/>
              </a:rPr>
              <a:t>YOLO26  n · s · m · l · x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6446520" y="5120640"/>
            <a:ext cx="4846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D4F4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D4F4E"/>
                </a:solidFill>
                <a:latin typeface="Calibri"/>
                <a:ea typeface="Calibri"/>
                <a:cs typeface="Calibri"/>
                <a:sym typeface="Calibri"/>
              </a:rPr>
              <a:t>We use YOLO26s</a:t>
            </a:r>
            <a:r>
              <a:rPr b="0" i="0" lang="en-US" sz="1250" u="none" cap="none" strike="noStrike">
                <a:solidFill>
                  <a:srgbClr val="1B2A29"/>
                </a:solidFill>
                <a:latin typeface="Calibri"/>
                <a:ea typeface="Calibri"/>
                <a:cs typeface="Calibri"/>
                <a:sym typeface="Calibri"/>
              </a:rPr>
              <a:t> — a small model balancing accuracy and speed, suited to wearable deployment.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B7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B79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A5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07A5F"/>
                </a:solidFill>
                <a:latin typeface="Arial"/>
                <a:ea typeface="Arial"/>
                <a:cs typeface="Arial"/>
                <a:sym typeface="Arial"/>
              </a:rPr>
              <a:t>RESULTS &amp; DISCUSSION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640080" y="786384"/>
            <a:ext cx="10881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4F4E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D4F4E"/>
                </a:solidFill>
                <a:latin typeface="Cambria"/>
                <a:ea typeface="Cambria"/>
                <a:cs typeface="Cambria"/>
                <a:sym typeface="Cambria"/>
              </a:rPr>
              <a:t>768×768 gives the best precision–recall balance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640080" y="1691640"/>
            <a:ext cx="5852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79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6B7B79"/>
                </a:solidFill>
                <a:latin typeface="Arial"/>
                <a:ea typeface="Arial"/>
                <a:cs typeface="Arial"/>
                <a:sym typeface="Arial"/>
              </a:rPr>
              <a:t>Detection metrics by input resolution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2057400"/>
            <a:ext cx="6126480" cy="406908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9"/>
          <p:cNvSpPr/>
          <p:nvPr/>
        </p:nvSpPr>
        <p:spPr>
          <a:xfrm>
            <a:off x="6995160" y="2057400"/>
            <a:ext cx="4526280" cy="1691640"/>
          </a:xfrm>
          <a:prstGeom prst="roundRect">
            <a:avLst>
              <a:gd fmla="val 5405" name="adj"/>
            </a:avLst>
          </a:prstGeom>
          <a:solidFill>
            <a:srgbClr val="0D4F4E"/>
          </a:solidFill>
          <a:ln>
            <a:noFill/>
          </a:ln>
          <a:effectLst>
            <a:outerShdw blurRad="101600" rotWithShape="0" algn="bl" dir="5400000" dist="38100">
              <a:srgbClr val="1B2A29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4" name="Google Shape;17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69480" y="2286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9"/>
          <p:cNvSpPr/>
          <p:nvPr/>
        </p:nvSpPr>
        <p:spPr>
          <a:xfrm>
            <a:off x="7863840" y="2304288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A5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07A5F"/>
                </a:solidFill>
                <a:latin typeface="Arial"/>
                <a:ea typeface="Arial"/>
                <a:cs typeface="Arial"/>
                <a:sym typeface="Arial"/>
              </a:rPr>
              <a:t>BEST CONFIGURATION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7863840" y="2578608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768 × 768 input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7269480" y="3154680"/>
            <a:ext cx="4069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82.8% </a:t>
            </a:r>
            <a:r>
              <a:rPr b="0" i="0" lang="en-US" sz="1400" u="none" cap="none" strike="noStrike">
                <a:solidFill>
                  <a:srgbClr val="DCECE8"/>
                </a:solidFill>
                <a:latin typeface="Calibri"/>
                <a:ea typeface="Calibri"/>
                <a:cs typeface="Calibri"/>
                <a:sym typeface="Calibri"/>
              </a:rPr>
              <a:t>precision   ·   </a:t>
            </a: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79.1% </a:t>
            </a:r>
            <a:r>
              <a:rPr b="0" i="0" lang="en-US" sz="1400" u="none" cap="none" strike="noStrike">
                <a:solidFill>
                  <a:srgbClr val="DCECE8"/>
                </a:solidFill>
                <a:latin typeface="Calibri"/>
                <a:ea typeface="Calibri"/>
                <a:cs typeface="Calibri"/>
                <a:sym typeface="Calibri"/>
              </a:rPr>
              <a:t>recall   ·   </a:t>
            </a: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80.9% </a:t>
            </a:r>
            <a:r>
              <a:rPr b="0" i="0" lang="en-US" sz="1400" u="none" cap="none" strike="noStrike">
                <a:solidFill>
                  <a:srgbClr val="DCECE8"/>
                </a:solidFill>
                <a:latin typeface="Calibri"/>
                <a:ea typeface="Calibri"/>
                <a:cs typeface="Calibri"/>
                <a:sym typeface="Calibri"/>
              </a:rPr>
              <a:t>F1 </a:t>
            </a:r>
            <a:r>
              <a:rPr lang="en-US">
                <a:solidFill>
                  <a:srgbClr val="DCECE8"/>
                </a:solidFill>
                <a:latin typeface="Calibri"/>
                <a:ea typeface="Calibri"/>
                <a:cs typeface="Calibri"/>
                <a:sym typeface="Calibri"/>
              </a:rPr>
              <a:t>- score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6995160" y="3931920"/>
            <a:ext cx="4526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79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B7B79"/>
                </a:solidFill>
                <a:latin typeface="Arial"/>
                <a:ea typeface="Arial"/>
                <a:cs typeface="Arial"/>
                <a:sym typeface="Arial"/>
              </a:rPr>
              <a:t>Confusion counts (test set)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9" name="Google Shape;179;p9"/>
          <p:cNvGraphicFramePr/>
          <p:nvPr/>
        </p:nvGraphicFramePr>
        <p:xfrm>
          <a:off x="6995160" y="42245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{A4C2BB03-6F2F-40CA-A42B-9CE2BC81509C}</a:tableStyleId>
              </a:tblPr>
              <a:tblGrid>
                <a:gridCol w="1371600"/>
                <a:gridCol w="1051550"/>
                <a:gridCol w="1051550"/>
                <a:gridCol w="1051550"/>
              </a:tblGrid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Input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4F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TP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4F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FP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4F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FN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4F4E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29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B2A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640</a:t>
                      </a:r>
                      <a:r>
                        <a:rPr lang="en-US" sz="1150">
                          <a:solidFill>
                            <a:srgbClr val="1B2A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x640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29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B2A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29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B2A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46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29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B2A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59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4F4E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0D4F4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768</a:t>
                      </a:r>
                      <a:r>
                        <a:rPr b="1" lang="en-US" sz="1150">
                          <a:solidFill>
                            <a:srgbClr val="0D4F4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x768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2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4F4E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0D4F4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197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2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4F4E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0D4F4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41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2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4F4E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0D4F4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52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2E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29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B2A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960</a:t>
                      </a:r>
                      <a:r>
                        <a:rPr lang="en-US" sz="1150">
                          <a:solidFill>
                            <a:srgbClr val="1B2A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x960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29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B2A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199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29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B2A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29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B2A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CE7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7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7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7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0" name="Google Shape;180;p9"/>
          <p:cNvSpPr/>
          <p:nvPr/>
        </p:nvSpPr>
        <p:spPr>
          <a:xfrm>
            <a:off x="6995160" y="5742432"/>
            <a:ext cx="4526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B79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B7B79"/>
                </a:solidFill>
                <a:latin typeface="Calibri"/>
                <a:ea typeface="Calibri"/>
                <a:cs typeface="Calibri"/>
                <a:sym typeface="Calibri"/>
              </a:rPr>
              <a:t>768² minimizes false positives and yields the highest F1 — the most stable choice for general use.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B7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B79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4F4E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"/>
          <p:cNvSpPr/>
          <p:nvPr/>
        </p:nvSpPr>
        <p:spPr>
          <a:xfrm>
            <a:off x="-1371600" y="4023360"/>
            <a:ext cx="4023360" cy="4023360"/>
          </a:xfrm>
          <a:prstGeom prst="ellipse">
            <a:avLst/>
          </a:prstGeom>
          <a:solidFill>
            <a:srgbClr val="12706D">
              <a:alpha val="5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"/>
          <p:cNvSpPr/>
          <p:nvPr/>
        </p:nvSpPr>
        <p:spPr>
          <a:xfrm>
            <a:off x="822960" y="68580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A5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07A5F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822960" y="1024128"/>
            <a:ext cx="10515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 fine-tuned YOLO can reliably sense food across wearable and conventional cameras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822960" y="2743200"/>
            <a:ext cx="3456432" cy="2286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B2A29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"/>
          <p:cNvSpPr/>
          <p:nvPr/>
        </p:nvSpPr>
        <p:spPr>
          <a:xfrm>
            <a:off x="1115568" y="3035808"/>
            <a:ext cx="658368" cy="658368"/>
          </a:xfrm>
          <a:prstGeom prst="ellipse">
            <a:avLst/>
          </a:prstGeom>
          <a:solidFill>
            <a:srgbClr val="F0F6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2" name="Google Shape;19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1016" y="319125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0"/>
          <p:cNvSpPr/>
          <p:nvPr/>
        </p:nvSpPr>
        <p:spPr>
          <a:xfrm>
            <a:off x="1115568" y="3822192"/>
            <a:ext cx="290779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4F4E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D4F4E"/>
                </a:solidFill>
                <a:latin typeface="Cambria"/>
                <a:ea typeface="Cambria"/>
                <a:cs typeface="Cambria"/>
                <a:sym typeface="Cambria"/>
              </a:rPr>
              <a:t>It works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1115568" y="4224528"/>
            <a:ext cx="290779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B2A2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A29"/>
                </a:solidFill>
                <a:latin typeface="Calibri"/>
                <a:ea typeface="Calibri"/>
                <a:cs typeface="Calibri"/>
                <a:sym typeface="Calibri"/>
              </a:rPr>
              <a:t>Fine-tuned YOLO26s detects food well across mixed egocentric and conventional imagery.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4535424" y="2743200"/>
            <a:ext cx="3456432" cy="2286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B2A29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"/>
          <p:cNvSpPr/>
          <p:nvPr/>
        </p:nvSpPr>
        <p:spPr>
          <a:xfrm>
            <a:off x="4828032" y="3035808"/>
            <a:ext cx="658368" cy="658368"/>
          </a:xfrm>
          <a:prstGeom prst="ellipse">
            <a:avLst/>
          </a:prstGeom>
          <a:solidFill>
            <a:srgbClr val="F0F6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7" name="Google Shape;19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3480" y="319125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0"/>
          <p:cNvSpPr/>
          <p:nvPr/>
        </p:nvSpPr>
        <p:spPr>
          <a:xfrm>
            <a:off x="4828032" y="3822192"/>
            <a:ext cx="290779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4F4E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D4F4E"/>
                </a:solidFill>
                <a:latin typeface="Cambria"/>
                <a:ea typeface="Cambria"/>
                <a:cs typeface="Cambria"/>
                <a:sym typeface="Cambria"/>
              </a:rPr>
              <a:t>Best at </a:t>
            </a:r>
            <a:r>
              <a:rPr b="1" i="0" lang="en-US" sz="1800" u="none" cap="none" strike="noStrike">
                <a:solidFill>
                  <a:srgbClr val="0D4F4E"/>
                </a:solidFill>
                <a:latin typeface="Cambria"/>
                <a:ea typeface="Cambria"/>
                <a:cs typeface="Cambria"/>
                <a:sym typeface="Cambria"/>
              </a:rPr>
              <a:t>7</a:t>
            </a:r>
            <a:r>
              <a:rPr b="1" i="0" lang="en-US" sz="1800" u="none" cap="none" strike="noStrike">
                <a:solidFill>
                  <a:srgbClr val="0D4F4E"/>
                </a:solidFill>
                <a:latin typeface="Cambria"/>
                <a:ea typeface="Cambria"/>
                <a:cs typeface="Cambria"/>
                <a:sym typeface="Cambria"/>
              </a:rPr>
              <a:t>68²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4828032" y="4224528"/>
            <a:ext cx="290779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B2A2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A29"/>
                </a:solidFill>
                <a:latin typeface="Calibri"/>
                <a:ea typeface="Calibri"/>
                <a:cs typeface="Calibri"/>
                <a:sym typeface="Calibri"/>
              </a:rPr>
              <a:t>Optimal input size given the variety of image dimensions in the merged dataset.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8247888" y="2743200"/>
            <a:ext cx="3456432" cy="2286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B2A29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"/>
          <p:cNvSpPr/>
          <p:nvPr/>
        </p:nvSpPr>
        <p:spPr>
          <a:xfrm>
            <a:off x="8540496" y="3035808"/>
            <a:ext cx="658368" cy="658368"/>
          </a:xfrm>
          <a:prstGeom prst="ellipse">
            <a:avLst/>
          </a:prstGeom>
          <a:solidFill>
            <a:srgbClr val="F0F6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2" name="Google Shape;202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95944" y="319125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0"/>
          <p:cNvSpPr/>
          <p:nvPr/>
        </p:nvSpPr>
        <p:spPr>
          <a:xfrm>
            <a:off x="8540496" y="3822192"/>
            <a:ext cx="290779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4F4E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D4F4E"/>
                </a:solidFill>
                <a:latin typeface="Cambria"/>
                <a:ea typeface="Cambria"/>
                <a:cs typeface="Cambria"/>
                <a:sym typeface="Cambria"/>
              </a:rPr>
              <a:t>Open challenge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8540496" y="4224528"/>
            <a:ext cx="290779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B2A2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A29"/>
                </a:solidFill>
                <a:latin typeface="Calibri"/>
                <a:ea typeface="Calibri"/>
                <a:cs typeface="Calibri"/>
                <a:sym typeface="Calibri"/>
              </a:rPr>
              <a:t>The model still occasionally fails to ignore non-edible objects in the scene.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822960" y="539496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CE8"/>
              </a:buClr>
              <a:buSzPts val="1450"/>
              <a:buFont typeface="Calibri"/>
              <a:buNone/>
            </a:pPr>
            <a:r>
              <a:rPr b="0" i="1" lang="en-US" sz="1450" u="none" cap="none" strike="noStrike">
                <a:solidFill>
                  <a:srgbClr val="DCECE8"/>
                </a:solidFill>
                <a:latin typeface="Calibri"/>
                <a:ea typeface="Calibri"/>
                <a:cs typeface="Calibri"/>
                <a:sym typeface="Calibri"/>
              </a:rPr>
              <a:t>Next: tighter false-positive suppression and on-device deployment as a real-time AmI sensing component.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